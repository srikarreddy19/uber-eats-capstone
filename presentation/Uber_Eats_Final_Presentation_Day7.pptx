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777240" cy="685800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46920" y="0"/>
            <a:ext cx="594360" cy="685800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0"/>
            <a:ext cx="1005840" cy="685800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315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5B7C3"/>
                </a:solidFill>
                <a:latin typeface="Aptos"/>
              </a:defRPr>
            </a:pPr>
            <a:r>
              <a:t>MACHINE LEARNING CAPSTONE  |  DAY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758952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Uber Eats</a:t>
            </a:r>
          </a:p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Operational &amp; Customer Intelligence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71323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2DEEE"/>
                </a:solidFill>
                <a:latin typeface="Aptos"/>
              </a:defRPr>
            </a:pPr>
            <a:r>
              <a:t>From synthetic data to operational predictions and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68580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Presented by: Srikar Reddy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08192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4D8"/>
                </a:solidFill>
                <a:latin typeface="Aptos"/>
              </a:defRPr>
            </a:pPr>
            <a:r>
              <a:t>15–20 minute project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The end-to-end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A connected analytics workflow across customers, restaurants, delivery and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176272"/>
            <a:ext cx="231343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01  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587752"/>
            <a:ext cx="2313432" cy="14356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Business problem, synthetic datasets and data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5740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176272"/>
            <a:ext cx="231343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02  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587752"/>
            <a:ext cx="2313432" cy="14356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Customer and restaurant segmentation; review sentiment.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5740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176272"/>
            <a:ext cx="231343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03 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587752"/>
            <a:ext cx="2313432" cy="14356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Delivery-time regression and hourly demand forecasting.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057400"/>
            <a:ext cx="2423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2176272"/>
            <a:ext cx="213055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04 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587752"/>
            <a:ext cx="2130552" cy="14356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Integrated insights, recommendations and next steps.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Suggested pacing: 2 min problem &amp; data • 5 min segmentation/NLP • 5 min prediction • 3 min impact • 2 min limitations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01 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What operational questions are we solving?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Turn fragmented platform data into decisions that improve customer and operational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30552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Customer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42032"/>
            <a:ext cx="3090672" cy="13898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Which customers behave differently, and how can retention efforts be targeted?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130552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Service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42032"/>
            <a:ext cx="3090672" cy="13898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What do reviews reveal, and which factors influence delivery duration?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130552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Capacity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542032"/>
            <a:ext cx="3090672" cy="13898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When will demand peak, and how can operations prepare?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2412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036"/>
                </a:solidFill>
                <a:latin typeface="Aptos"/>
              </a:defRPr>
            </a:pPr>
            <a:r>
              <a:t>Objective: build a reproducible ML workflow supporting segmentation, service prediction, demand planning and actionable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02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Seven synthetic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Linked datasets represent the main entities and events in a food-delivery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1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04872"/>
            <a:ext cx="3090672" cy="7040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1,000 rows • profiles and behaviour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1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Restaurants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04872"/>
            <a:ext cx="3090672" cy="7040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100 rows • ratings and 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993391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04872"/>
            <a:ext cx="3090672" cy="7040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200 rows • driver attributes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593591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005072"/>
            <a:ext cx="3090672" cy="7040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10,000 rows • order activity and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3593591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Deliveries &amp;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005072"/>
            <a:ext cx="3090672" cy="7040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8,831 deliveries • 10,000 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474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3593591"/>
            <a:ext cx="309067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4005072"/>
            <a:ext cx="3090672" cy="70408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5,740 rows • ratings and text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27D2D"/>
                </a:solidFill>
                <a:latin typeface="Aptos"/>
              </a:defRPr>
            </a:pPr>
            <a:r>
              <a:t>Data is simulated; findings demonstrate methodology, not verified real-world Uber Eats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03 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Quality checks before modelling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Data quality checks identified missing values and field issues to address before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39112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50592"/>
            <a:ext cx="3136392" cy="157276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Customers: 10 missing ages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Restaurants: 1 missing rating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Reviews: 57 missing review texts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39112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Cleaning &amp;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50592"/>
            <a:ext cx="3136392" cy="157276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Validate columns and data types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Handle missing/invalid records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Normalize review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39112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50592"/>
            <a:ext cx="3136392" cy="157276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Create customer/restaurant aggregates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Derive delivery and time features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Prepare modelling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1042416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97687"/>
                </a:solidFill>
                <a:latin typeface="Aptos"/>
              </a:defRPr>
            </a:pPr>
            <a:r>
              <a:t>The data dictionary and quality report document dataset structure, quality observations and preparation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04 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Customer and restaurant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Unsupervised learning discovers groups with similar behaviour and operating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Partitions records into K clusters.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Customer K selected: 2; silhouette ~0.248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Restaurant K selected: 3; silhouette ~0.258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DBSCAN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Density-based clustering identifies groups and noise.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Customer silhouette unavailable (nan).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Restaurant silhouette ~0.210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Reduced feature dimensions for 2D visualization.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Used to inspect separation and overlap; not a substitute for interpretation.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1042416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036"/>
                </a:solidFill>
                <a:latin typeface="Aptos"/>
              </a:defRPr>
            </a:pPr>
            <a:r>
              <a:t>Interpret clusters using spending, order frequency, revenue, ratings, cancellations and delivery performance—not cluster IDs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05  NLP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Turning review text into sentiment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Review sentiment provides a customer-experience signal to summarize alongside ratings and operational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Text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Remove empty/invalid reviews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Lowercase and tokenize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Remove stopwords and punctuation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Lemmatize while retaining negations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TF-IDF + LinearSVC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Unigrams and bigrams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Labels from ratings: 1–2 negative, 3 neutral, 4–5 positive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80/20 train-test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LinearSVC accuracy: 1.000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VADER accuracy: 0.680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Perfect accuracy may reflect synthetic rating-derived labels.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1042416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D27D2D"/>
                </a:solidFill>
                <a:latin typeface="Aptos"/>
              </a:defRPr>
            </a:pPr>
            <a:r>
              <a:t>Caveat: validate on independently labelled, real customer reviews before production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06 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Predicting delivery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A supervised model estimates delivery time from order, restaurant, time, traffic and weather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Distance, order amount, item count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Preparation time and restaurant rating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Hour, weekday, weekend, traffic, weather, category and customer cluster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Median baseline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Ridge Regression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Lasso Regression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Best: Ridge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MAE: 3.24 minutes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RMSE: 4.09 minutes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R²: 0.953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3-fold CV MAE: 3.25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1042416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22036"/>
                </a:solidFill>
                <a:latin typeface="Aptos"/>
              </a:defRPr>
            </a:pPr>
            <a:r>
              <a:t>Top feature importance: delivery distance (~0.529) and preparation time (~0.248). Predictive importance does not imply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07 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Forecasting hourly order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Hourly order counts were analysed to understand patterns and estimate the next seven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Time-series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Hourly aggregation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Decomposition (24-hour period)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ADF test on original/differenced series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Chronological 80/20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ARIMA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Prophet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Compared MAE, RMSE and non-zero MAPE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Forecast horizon: 7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99339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04872"/>
            <a:ext cx="3136392" cy="166420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Prophet MAE: 1.208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ARIMA MAE: 1.212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Prophet RMSE: 1.523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ARIMA RMSE: 1.511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Prophet selected by 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D27D2D"/>
                </a:solidFill>
                <a:latin typeface="Aptos"/>
              </a:defRPr>
            </a:pPr>
            <a:r>
              <a:t>Peak hour: 9 PM • Forecast total for next 7 days: ~389 orders • Non-zero MAPE: ~51%, so use forecast cautiously.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08  INTEGRATED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From model outputs to operational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Day 6 combines model outputs into summaries and a consolidated business-insights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8483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Customer &amp; restaurant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96312"/>
            <a:ext cx="3136392" cy="157276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Use cluster profiles to identify customer groups and restaurants that may need targeted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6596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8483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96312"/>
            <a:ext cx="3136392" cy="157276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Use sentiment and negative-review themes to prioritize service-quality investigations.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84831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Operations &amp;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96312"/>
            <a:ext cx="3136392" cy="157276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Use delivery predictions and demand forecasts to inform staffing and preparation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42416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Outputs include segment summaries, sentiment themes, delivery model evaluation, forecast features and integrated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08 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What could the platform do with these outputs?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Recommendations are decision-support opportunities to validate with live data and controlled experiments.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Target loyalty or re-engagement campaigns using customer behaviour segments.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Investigate restaurants with weaker ratings, higher cancellations or longer preparation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65575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Use distance and preparation-time signals to improve ETA estimates and identify bottlenecks.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15383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Plan driver availability and restaurant capacity around forecast hourly peaks.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65192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Monitor forecast error, delivery MAE and sentiment trends as new data arrives.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09 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What should decision-makers keep in mind?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The results demonstrate an end-to-end workflow; they are not production guarantees.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Synthetic data may not represent real customer behaviour, geography, demand spikes or operational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Sentiment labels came from star ratings; 100% LinearSVC accuracy may reflect label construction.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65575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DBSCAN depends on scaling and parameter choices; some outcomes may not support a silhouette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15383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Forecast non-zero MAPE is ~51%, indicating limited forecast reliability.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65192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Feature importance and correlations do not establish causal relationships.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10 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How could the solution be improved?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A production-ready version needs stronger data, validation, monitoring and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Replace synthetic data with privacy-protected, representative production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Use independently annotated reviews and evaluate richer NLP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65575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Tune clustering features and parameters; validate segments with business stakeholders.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15383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Add zone-level, holiday-aware forecasting and rolling backtests.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65192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Monitor drift and retrain models on a scheduled or event-driven basis.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5156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 Extend with tip prediction, real-time dashboards and automated pipelines.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One connected analytical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Reusable Python scripts produce versioned code, models, reports and visual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542032"/>
            <a:ext cx="1673351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Raw CSVs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953512"/>
            <a:ext cx="1673351" cy="10241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Synthetic source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3017520"/>
            <a:ext cx="2743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35B7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24231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542032"/>
            <a:ext cx="1673351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Quality + 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953512"/>
            <a:ext cx="1673351" cy="10241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Validation and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1" y="3017520"/>
            <a:ext cx="2743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35B7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24231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542032"/>
            <a:ext cx="1673351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Feature 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953512"/>
            <a:ext cx="1673351" cy="10241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Aggregated model 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3017520"/>
            <a:ext cx="2743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35B7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2542032"/>
            <a:ext cx="1673351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ML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953512"/>
            <a:ext cx="1673351" cy="10241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Clusters, sentiment, regression, forecasts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3017520"/>
            <a:ext cx="2743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35B7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4231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4" y="2542032"/>
            <a:ext cx="1673351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953512"/>
            <a:ext cx="1673351" cy="10241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Reports and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97687"/>
                </a:solidFill>
                <a:latin typeface="Aptos"/>
              </a:defRPr>
            </a:pPr>
            <a:r>
              <a:t>Repository structure: data/raw • data/processed • src • models • reports/figures •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A69BE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1031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69768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4360"/>
            <a:ext cx="11155680" cy="22860"/>
          </a:xfrm>
          <a:prstGeom prst="rect">
            <a:avLst/>
          </a:prstGeom>
          <a:solidFill>
            <a:srgbClr val="35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6"/>
                </a:solidFill>
                <a:latin typeface="Aptos"/>
              </a:defRPr>
            </a:pPr>
            <a:r>
              <a:t>Project status and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687"/>
                </a:solidFill>
                <a:latin typeface="Aptos"/>
              </a:defRPr>
            </a:pPr>
            <a:r>
              <a:t>The six implementation days produced the core demonstration pipeline; Day 7 packages and presents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UBER EATS OPERATIONAL &amp; CUSTOMER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9768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39112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50592"/>
            <a:ext cx="3136392" cy="1527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Data generation and quality checks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Segmentation and sentiment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Delivery prediction and forecasting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Integrated business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39112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Finalization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50592"/>
            <a:ext cx="3136392" cy="1527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README documentation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Presentation deck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Git status, commit and merge workflow</a:t>
            </a:r>
          </a:p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Final repository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39112"/>
            <a:ext cx="3136392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5B7C3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50592"/>
            <a:ext cx="3136392" cy="1527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1"/>
                </a:solidFill>
                <a:latin typeface="Aptos"/>
              </a:defRPr>
            </a:pPr>
            <a:r>
              <a:t>One workflow connects customer understanding, service-quality signals and operational forecasts to better-informed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1042416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22036"/>
                </a:solidFill>
                <a:latin typeface="Aptos"/>
              </a:defRPr>
            </a:pPr>
            <a:r>
              <a:t>Thank you  | 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97687"/>
                </a:solidFill>
                <a:latin typeface="Aptos"/>
              </a:defRPr>
            </a:pPr>
            <a:r>
              <a:t>Repository: github.com/srikarreddy19/uber-eats-capstone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